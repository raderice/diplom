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slideLayouts/slideLayout17.xml" ContentType="application/vnd.openxmlformats-officedocument.presentationml.slideLayout+xml"/>
  <Override PartName="/ppt/theme/theme17.xml" ContentType="application/vnd.openxmlformats-officedocument.theme+xml"/>
  <Override PartName="/ppt/slideLayouts/slideLayout18.xml" ContentType="application/vnd.openxmlformats-officedocument.presentationml.slideLayout+xml"/>
  <Override PartName="/ppt/theme/theme18.xml" ContentType="application/vnd.openxmlformats-officedocument.theme+xml"/>
  <Override PartName="/ppt/slideLayouts/slideLayout19.xml" ContentType="application/vnd.openxmlformats-officedocument.presentationml.slideLayout+xml"/>
  <Override PartName="/ppt/theme/theme19.xml" ContentType="application/vnd.openxmlformats-officedocument.theme+xml"/>
  <Override PartName="/ppt/slideLayouts/slideLayout20.xml" ContentType="application/vnd.openxmlformats-officedocument.presentationml.slideLayout+xml"/>
  <Override PartName="/ppt/theme/theme20.xml" ContentType="application/vnd.openxmlformats-officedocument.theme+xml"/>
  <Override PartName="/ppt/slideLayouts/slideLayout21.xml" ContentType="application/vnd.openxmlformats-officedocument.presentationml.slideLayout+xml"/>
  <Override PartName="/ppt/theme/theme21.xml" ContentType="application/vnd.openxmlformats-officedocument.theme+xml"/>
  <Override PartName="/ppt/slideLayouts/slideLayout22.xml" ContentType="application/vnd.openxmlformats-officedocument.presentationml.slideLayout+xml"/>
  <Override PartName="/ppt/theme/theme22.xml" ContentType="application/vnd.openxmlformats-officedocument.theme+xml"/>
  <Override PartName="/ppt/slideLayouts/slideLayout23.xml" ContentType="application/vnd.openxmlformats-officedocument.presentationml.slideLayout+xml"/>
  <Override PartName="/ppt/theme/theme23.xml" ContentType="application/vnd.openxmlformats-officedocument.theme+xml"/>
  <Override PartName="/ppt/slideLayouts/slideLayout24.xml" ContentType="application/vnd.openxmlformats-officedocument.presentationml.slideLayout+xml"/>
  <Override PartName="/ppt/theme/theme24.xml" ContentType="application/vnd.openxmlformats-officedocument.theme+xml"/>
  <Override PartName="/ppt/theme/theme2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  <p:sldMasterId id="2147483674" r:id="rId14"/>
    <p:sldMasterId id="2147483676" r:id="rId15"/>
    <p:sldMasterId id="2147483678" r:id="rId16"/>
    <p:sldMasterId id="2147483680" r:id="rId17"/>
    <p:sldMasterId id="2147483682" r:id="rId18"/>
    <p:sldMasterId id="2147483684" r:id="rId19"/>
    <p:sldMasterId id="2147483686" r:id="rId20"/>
    <p:sldMasterId id="2147483688" r:id="rId21"/>
    <p:sldMasterId id="2147483690" r:id="rId22"/>
    <p:sldMasterId id="2147483692" r:id="rId23"/>
    <p:sldMasterId id="2147483694" r:id="rId24"/>
  </p:sldMasterIdLst>
  <p:notesMasterIdLst>
    <p:notesMasterId r:id="rId42"/>
  </p:notesMasterIdLst>
  <p:sldIdLst>
    <p:sldId id="256" r:id="rId25"/>
    <p:sldId id="258" r:id="rId26"/>
    <p:sldId id="281" r:id="rId27"/>
    <p:sldId id="280" r:id="rId28"/>
    <p:sldId id="260" r:id="rId29"/>
    <p:sldId id="282" r:id="rId30"/>
    <p:sldId id="283" r:id="rId31"/>
    <p:sldId id="284" r:id="rId32"/>
    <p:sldId id="285" r:id="rId33"/>
    <p:sldId id="286" r:id="rId34"/>
    <p:sldId id="263" r:id="rId35"/>
    <p:sldId id="287" r:id="rId36"/>
    <p:sldId id="265" r:id="rId37"/>
    <p:sldId id="268" r:id="rId38"/>
    <p:sldId id="288" r:id="rId39"/>
    <p:sldId id="278" r:id="rId40"/>
    <p:sldId id="279" r:id="rId41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01" autoAdjust="0"/>
    <p:restoredTop sz="94660"/>
  </p:normalViewPr>
  <p:slideViewPr>
    <p:cSldViewPr snapToGrid="0">
      <p:cViewPr>
        <p:scale>
          <a:sx n="150" d="100"/>
          <a:sy n="150" d="100"/>
        </p:scale>
        <p:origin x="2088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2.xml"/><Relationship Id="rId39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10.xml"/><Relationship Id="rId42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1.xml"/><Relationship Id="rId33" Type="http://schemas.openxmlformats.org/officeDocument/2006/relationships/slide" Target="slides/slide9.xml"/><Relationship Id="rId38" Type="http://schemas.openxmlformats.org/officeDocument/2006/relationships/slide" Target="slides/slide14.xml"/><Relationship Id="rId46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Master" Target="slideMasters/slideMaster20.xml"/><Relationship Id="rId29" Type="http://schemas.openxmlformats.org/officeDocument/2006/relationships/slide" Target="slides/slide5.xml"/><Relationship Id="rId41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" Target="slides/slide8.xml"/><Relationship Id="rId37" Type="http://schemas.openxmlformats.org/officeDocument/2006/relationships/slide" Target="slides/slide13.xml"/><Relationship Id="rId40" Type="http://schemas.openxmlformats.org/officeDocument/2006/relationships/slide" Target="slides/slide16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" Target="slides/slide4.xml"/><Relationship Id="rId36" Type="http://schemas.openxmlformats.org/officeDocument/2006/relationships/slide" Target="slides/slide12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" Target="slides/slide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" Target="slides/slide3.xml"/><Relationship Id="rId30" Type="http://schemas.openxmlformats.org/officeDocument/2006/relationships/slide" Target="slides/slide6.xml"/><Relationship Id="rId35" Type="http://schemas.openxmlformats.org/officeDocument/2006/relationships/slide" Target="slides/slide11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886F46-79A0-40E2-80A8-A54CA490B01D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2D19D0-78FD-4CBE-A831-A4A121F093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769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D19D0-78FD-4CBE-A831-A4A121F0937D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9733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94920" y="595080"/>
            <a:ext cx="4447800" cy="79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BOD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94920" y="595080"/>
            <a:ext cx="4447800" cy="79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394920" y="595080"/>
            <a:ext cx="4447800" cy="79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394920" y="595080"/>
            <a:ext cx="4447800" cy="79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19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0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1.xml"/></Relationships>
</file>

<file path=ppt/slideMasters/_rels/slideMaster2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2.xml"/></Relationships>
</file>

<file path=ppt/slideMasters/_rels/slideMaster23.xml.rels><?xml version="1.0" encoding="UTF-8" standalone="yes"?>
<Relationships xmlns="http://schemas.openxmlformats.org/package/2006/relationships"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3.xml"/></Relationships>
</file>

<file path=ppt/slideMasters/_rels/slideMaster24.xml.rels><?xml version="1.0" encoding="UTF-8" standalone="yes"?>
<Relationships xmlns="http://schemas.openxmlformats.org/package/2006/relationships"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94920" y="1835280"/>
            <a:ext cx="8353440" cy="2243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5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cxnSp>
        <p:nvCxnSpPr>
          <p:cNvPr id="5" name="Google Shape;11;p2"/>
          <p:cNvCxnSpPr/>
          <p:nvPr/>
        </p:nvCxnSpPr>
        <p:spPr>
          <a:xfrm>
            <a:off x="-18720" y="418176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-5040" y="0"/>
            <a:ext cx="9143640" cy="1521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75000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cxnSp>
        <p:nvCxnSpPr>
          <p:cNvPr id="3" name="Google Shape;13;p2"/>
          <p:cNvCxnSpPr/>
          <p:nvPr/>
        </p:nvCxnSpPr>
        <p:spPr>
          <a:xfrm>
            <a:off x="-18720" y="474840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ogle Shape;55;p11"/>
          <p:cNvCxnSpPr/>
          <p:nvPr/>
        </p:nvCxnSpPr>
        <p:spPr>
          <a:xfrm>
            <a:off x="-18720" y="474840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cxnSp>
        <p:nvCxnSpPr>
          <p:cNvPr id="7" name="Google Shape;56;p11"/>
          <p:cNvCxnSpPr/>
          <p:nvPr/>
        </p:nvCxnSpPr>
        <p:spPr>
          <a:xfrm>
            <a:off x="-18720" y="96768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284120" y="1575720"/>
            <a:ext cx="6575760" cy="1526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strike="noStrike" spc="-1">
                <a:solidFill>
                  <a:schemeClr val="dk1"/>
                </a:solidFill>
                <a:latin typeface="Libre Baskerville"/>
                <a:ea typeface="Libre Baskerville"/>
              </a:rPr>
              <a:t>xx%</a:t>
            </a:r>
            <a:endParaRPr lang="fr-FR" sz="60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94920" y="395280"/>
            <a:ext cx="83538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title"/>
          </p:nvPr>
        </p:nvSpPr>
        <p:spPr>
          <a:xfrm>
            <a:off x="394920" y="1086120"/>
            <a:ext cx="6372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200" b="0" strike="noStrike" spc="-1">
                <a:solidFill>
                  <a:schemeClr val="dk1"/>
                </a:solidFill>
                <a:latin typeface="Libre Baskerville"/>
                <a:ea typeface="Libre Baskerville"/>
              </a:rPr>
              <a:t>xx%</a:t>
            </a:r>
            <a:endParaRPr lang="fr-FR" sz="2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title"/>
          </p:nvPr>
        </p:nvSpPr>
        <p:spPr>
          <a:xfrm>
            <a:off x="394920" y="2978280"/>
            <a:ext cx="6372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200" b="0" strike="noStrike" spc="-1">
                <a:solidFill>
                  <a:schemeClr val="dk1"/>
                </a:solidFill>
                <a:latin typeface="Libre Baskerville"/>
                <a:ea typeface="Libre Baskerville"/>
              </a:rPr>
              <a:t>xx%</a:t>
            </a:r>
            <a:endParaRPr lang="fr-FR" sz="2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title"/>
          </p:nvPr>
        </p:nvSpPr>
        <p:spPr>
          <a:xfrm>
            <a:off x="394920" y="1716840"/>
            <a:ext cx="6372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200" b="0" strike="noStrike" spc="-1">
                <a:solidFill>
                  <a:schemeClr val="dk1"/>
                </a:solidFill>
                <a:latin typeface="Libre Baskerville"/>
                <a:ea typeface="Libre Baskerville"/>
              </a:rPr>
              <a:t>xx%</a:t>
            </a:r>
            <a:endParaRPr lang="fr-FR" sz="2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title"/>
          </p:nvPr>
        </p:nvSpPr>
        <p:spPr>
          <a:xfrm>
            <a:off x="394920" y="3608640"/>
            <a:ext cx="6372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200" b="0" strike="noStrike" spc="-1">
                <a:solidFill>
                  <a:schemeClr val="dk1"/>
                </a:solidFill>
                <a:latin typeface="Libre Baskerville"/>
                <a:ea typeface="Libre Baskerville"/>
              </a:rPr>
              <a:t>xx%</a:t>
            </a:r>
            <a:endParaRPr lang="fr-FR" sz="2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title"/>
          </p:nvPr>
        </p:nvSpPr>
        <p:spPr>
          <a:xfrm>
            <a:off x="394920" y="2347560"/>
            <a:ext cx="6372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200" b="0" strike="noStrike" spc="-1">
                <a:solidFill>
                  <a:schemeClr val="dk1"/>
                </a:solidFill>
                <a:latin typeface="Libre Baskerville"/>
                <a:ea typeface="Libre Baskerville"/>
              </a:rPr>
              <a:t>xx%</a:t>
            </a:r>
            <a:endParaRPr lang="fr-FR" sz="2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5" name="PlaceHolder 7"/>
          <p:cNvSpPr>
            <a:spLocks noGrp="1"/>
          </p:cNvSpPr>
          <p:nvPr>
            <p:ph type="title"/>
          </p:nvPr>
        </p:nvSpPr>
        <p:spPr>
          <a:xfrm>
            <a:off x="394920" y="4239360"/>
            <a:ext cx="6372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200" b="0" strike="noStrike" spc="-1">
                <a:solidFill>
                  <a:schemeClr val="dk1"/>
                </a:solidFill>
                <a:latin typeface="Libre Baskerville"/>
                <a:ea typeface="Libre Baskerville"/>
              </a:rPr>
              <a:t>xx%</a:t>
            </a:r>
            <a:endParaRPr lang="fr-FR" sz="2200" b="0" strike="noStrike" spc="-1">
              <a:solidFill>
                <a:schemeClr val="dk1"/>
              </a:solidFill>
              <a:latin typeface="Arial"/>
            </a:endParaRPr>
          </a:p>
        </p:txBody>
      </p:sp>
      <p:cxnSp>
        <p:nvCxnSpPr>
          <p:cNvPr id="16" name="Google Shape;74;p13"/>
          <p:cNvCxnSpPr/>
          <p:nvPr/>
        </p:nvCxnSpPr>
        <p:spPr>
          <a:xfrm>
            <a:off x="-18720" y="474840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cxnSp>
        <p:nvCxnSpPr>
          <p:cNvPr id="17" name="Google Shape;75;p13"/>
          <p:cNvCxnSpPr/>
          <p:nvPr/>
        </p:nvCxnSpPr>
        <p:spPr>
          <a:xfrm>
            <a:off x="-18720" y="96768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cxnSp>
        <p:nvCxnSpPr>
          <p:cNvPr id="18" name="Google Shape;76;p13"/>
          <p:cNvCxnSpPr/>
          <p:nvPr/>
        </p:nvCxnSpPr>
        <p:spPr>
          <a:xfrm>
            <a:off x="-18720" y="159768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cxnSp>
        <p:nvCxnSpPr>
          <p:cNvPr id="19" name="Google Shape;77;p13"/>
          <p:cNvCxnSpPr/>
          <p:nvPr/>
        </p:nvCxnSpPr>
        <p:spPr>
          <a:xfrm>
            <a:off x="-18720" y="222768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cxnSp>
        <p:nvCxnSpPr>
          <p:cNvPr id="20" name="Google Shape;78;p13"/>
          <p:cNvCxnSpPr/>
          <p:nvPr/>
        </p:nvCxnSpPr>
        <p:spPr>
          <a:xfrm>
            <a:off x="-18720" y="285804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cxnSp>
        <p:nvCxnSpPr>
          <p:cNvPr id="21" name="Google Shape;79;p13"/>
          <p:cNvCxnSpPr/>
          <p:nvPr/>
        </p:nvCxnSpPr>
        <p:spPr>
          <a:xfrm>
            <a:off x="-18720" y="348804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cxnSp>
        <p:nvCxnSpPr>
          <p:cNvPr id="22" name="Google Shape;80;p13"/>
          <p:cNvCxnSpPr/>
          <p:nvPr/>
        </p:nvCxnSpPr>
        <p:spPr>
          <a:xfrm>
            <a:off x="-18720" y="411804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94920" y="3659040"/>
            <a:ext cx="8293680" cy="991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cxnSp>
        <p:nvCxnSpPr>
          <p:cNvPr id="24" name="Google Shape;84;p14"/>
          <p:cNvCxnSpPr/>
          <p:nvPr/>
        </p:nvCxnSpPr>
        <p:spPr>
          <a:xfrm>
            <a:off x="-18720" y="474840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cxnSp>
        <p:nvCxnSpPr>
          <p:cNvPr id="25" name="Google Shape;85;p14"/>
          <p:cNvCxnSpPr/>
          <p:nvPr/>
        </p:nvCxnSpPr>
        <p:spPr>
          <a:xfrm>
            <a:off x="-18720" y="356112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94920" y="252000"/>
            <a:ext cx="5055840" cy="1130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cxnSp>
        <p:nvCxnSpPr>
          <p:cNvPr id="28" name="Google Shape;89;p15"/>
          <p:cNvCxnSpPr/>
          <p:nvPr/>
        </p:nvCxnSpPr>
        <p:spPr>
          <a:xfrm>
            <a:off x="-18720" y="4748400"/>
            <a:ext cx="55314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5512680" y="0"/>
            <a:ext cx="36313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94920" y="395280"/>
            <a:ext cx="8353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394920" y="1165680"/>
            <a:ext cx="8353440" cy="165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cxnSp>
        <p:nvCxnSpPr>
          <p:cNvPr id="32" name="Google Shape;94;p16"/>
          <p:cNvCxnSpPr/>
          <p:nvPr/>
        </p:nvCxnSpPr>
        <p:spPr>
          <a:xfrm>
            <a:off x="-18720" y="474840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cxnSp>
        <p:nvCxnSpPr>
          <p:cNvPr id="33" name="Google Shape;95;p16"/>
          <p:cNvCxnSpPr/>
          <p:nvPr/>
        </p:nvCxnSpPr>
        <p:spPr>
          <a:xfrm>
            <a:off x="-18720" y="96768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97;p17"/>
          <p:cNvCxnSpPr/>
          <p:nvPr/>
        </p:nvCxnSpPr>
        <p:spPr>
          <a:xfrm>
            <a:off x="-18720" y="474840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cxnSp>
        <p:nvCxnSpPr>
          <p:cNvPr id="35" name="Google Shape;98;p17"/>
          <p:cNvCxnSpPr/>
          <p:nvPr/>
        </p:nvCxnSpPr>
        <p:spPr>
          <a:xfrm>
            <a:off x="-18720" y="96768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394920" y="395280"/>
            <a:ext cx="8353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107;p18"/>
          <p:cNvCxnSpPr/>
          <p:nvPr/>
        </p:nvCxnSpPr>
        <p:spPr>
          <a:xfrm>
            <a:off x="-18720" y="474840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cxnSp>
        <p:nvCxnSpPr>
          <p:cNvPr id="38" name="Google Shape;108;p18"/>
          <p:cNvCxnSpPr/>
          <p:nvPr/>
        </p:nvCxnSpPr>
        <p:spPr>
          <a:xfrm>
            <a:off x="-18720" y="96768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94920" y="395280"/>
            <a:ext cx="8353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394920" y="1989720"/>
            <a:ext cx="573120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000" b="0" strike="noStrike" spc="-1">
                <a:solidFill>
                  <a:schemeClr val="dk1"/>
                </a:solidFill>
                <a:latin typeface="Libre Baskerville"/>
                <a:ea typeface="Libre Baskerville"/>
              </a:rPr>
              <a:t>xx%</a:t>
            </a:r>
            <a:endParaRPr lang="fr-FR" sz="4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title"/>
          </p:nvPr>
        </p:nvSpPr>
        <p:spPr>
          <a:xfrm>
            <a:off x="394920" y="588960"/>
            <a:ext cx="573120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000" b="0" strike="noStrike" spc="-1">
                <a:solidFill>
                  <a:schemeClr val="dk1"/>
                </a:solidFill>
                <a:latin typeface="Libre Baskerville"/>
                <a:ea typeface="Libre Baskerville"/>
              </a:rPr>
              <a:t>xx%</a:t>
            </a:r>
            <a:endParaRPr lang="fr-FR" sz="4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title"/>
          </p:nvPr>
        </p:nvSpPr>
        <p:spPr>
          <a:xfrm>
            <a:off x="394920" y="3390120"/>
            <a:ext cx="573120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000" b="0" strike="noStrike" spc="-1">
                <a:solidFill>
                  <a:schemeClr val="dk1"/>
                </a:solidFill>
                <a:latin typeface="Libre Baskerville"/>
                <a:ea typeface="Libre Baskerville"/>
              </a:rPr>
              <a:t>xx%</a:t>
            </a:r>
            <a:endParaRPr lang="fr-FR" sz="4000" b="0" strike="noStrike" spc="-1">
              <a:solidFill>
                <a:schemeClr val="dk1"/>
              </a:solidFill>
              <a:latin typeface="Arial"/>
            </a:endParaRPr>
          </a:p>
        </p:txBody>
      </p:sp>
      <p:cxnSp>
        <p:nvCxnSpPr>
          <p:cNvPr id="43" name="Google Shape;125;p19"/>
          <p:cNvCxnSpPr/>
          <p:nvPr/>
        </p:nvCxnSpPr>
        <p:spPr>
          <a:xfrm>
            <a:off x="-18720" y="474840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cxnSp>
        <p:nvCxnSpPr>
          <p:cNvPr id="44" name="Google Shape;126;p19"/>
          <p:cNvCxnSpPr/>
          <p:nvPr/>
        </p:nvCxnSpPr>
        <p:spPr>
          <a:xfrm>
            <a:off x="-18720" y="327204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cxnSp>
        <p:nvCxnSpPr>
          <p:cNvPr id="45" name="Google Shape;127;p19"/>
          <p:cNvCxnSpPr/>
          <p:nvPr/>
        </p:nvCxnSpPr>
        <p:spPr>
          <a:xfrm>
            <a:off x="-18720" y="187164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cxnSp>
        <p:nvCxnSpPr>
          <p:cNvPr id="46" name="Google Shape;128;p19"/>
          <p:cNvCxnSpPr/>
          <p:nvPr/>
        </p:nvCxnSpPr>
        <p:spPr>
          <a:xfrm>
            <a:off x="-18720" y="39492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Google Shape;130;p20"/>
          <p:cNvCxnSpPr/>
          <p:nvPr/>
        </p:nvCxnSpPr>
        <p:spPr>
          <a:xfrm>
            <a:off x="-18720" y="474840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cxnSp>
        <p:nvCxnSpPr>
          <p:cNvPr id="48" name="Google Shape;131;p20"/>
          <p:cNvCxnSpPr/>
          <p:nvPr/>
        </p:nvCxnSpPr>
        <p:spPr>
          <a:xfrm>
            <a:off x="-18720" y="376632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cxnSp>
        <p:nvCxnSpPr>
          <p:cNvPr id="49" name="Google Shape;132;p20"/>
          <p:cNvCxnSpPr/>
          <p:nvPr/>
        </p:nvCxnSpPr>
        <p:spPr>
          <a:xfrm>
            <a:off x="-18720" y="154368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94920" y="595080"/>
            <a:ext cx="4447800" cy="796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body"/>
          </p:nvPr>
        </p:nvSpPr>
        <p:spPr>
          <a:xfrm>
            <a:off x="-5040" y="3150000"/>
            <a:ext cx="9143640" cy="199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cxnSp>
        <p:nvCxnSpPr>
          <p:cNvPr id="53" name="Google Shape;16;p3"/>
          <p:cNvCxnSpPr/>
          <p:nvPr/>
        </p:nvCxnSpPr>
        <p:spPr>
          <a:xfrm>
            <a:off x="-18720" y="123228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sp>
        <p:nvSpPr>
          <p:cNvPr id="54" name="PlaceHolder 2"/>
          <p:cNvSpPr>
            <a:spLocks noGrp="1"/>
          </p:cNvSpPr>
          <p:nvPr>
            <p:ph type="title"/>
          </p:nvPr>
        </p:nvSpPr>
        <p:spPr>
          <a:xfrm>
            <a:off x="394920" y="1435680"/>
            <a:ext cx="835344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5" name="PlaceHolder 3"/>
          <p:cNvSpPr>
            <a:spLocks noGrp="1"/>
          </p:cNvSpPr>
          <p:nvPr>
            <p:ph type="title"/>
          </p:nvPr>
        </p:nvSpPr>
        <p:spPr>
          <a:xfrm>
            <a:off x="394920" y="395280"/>
            <a:ext cx="123552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000" b="0" strike="noStrike" spc="-1">
                <a:solidFill>
                  <a:schemeClr val="dk1"/>
                </a:solidFill>
                <a:latin typeface="Libre Baskerville"/>
                <a:ea typeface="Libre Baskerville"/>
              </a:rPr>
              <a:t>xx%</a:t>
            </a:r>
            <a:endParaRPr lang="fr-FR" sz="40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136;p21"/>
          <p:cNvCxnSpPr/>
          <p:nvPr/>
        </p:nvCxnSpPr>
        <p:spPr>
          <a:xfrm>
            <a:off x="-18720" y="474840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cxnSp>
        <p:nvCxnSpPr>
          <p:cNvPr id="57" name="Google Shape;137;p21"/>
          <p:cNvCxnSpPr/>
          <p:nvPr/>
        </p:nvCxnSpPr>
        <p:spPr>
          <a:xfrm>
            <a:off x="-18720" y="327204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cxnSp>
        <p:nvCxnSpPr>
          <p:cNvPr id="58" name="Google Shape;138;p21"/>
          <p:cNvCxnSpPr/>
          <p:nvPr/>
        </p:nvCxnSpPr>
        <p:spPr>
          <a:xfrm>
            <a:off x="-18720" y="187164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cxnSp>
        <p:nvCxnSpPr>
          <p:cNvPr id="59" name="Google Shape;139;p21"/>
          <p:cNvCxnSpPr/>
          <p:nvPr/>
        </p:nvCxnSpPr>
        <p:spPr>
          <a:xfrm>
            <a:off x="-18720" y="39492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141;p22"/>
          <p:cNvCxnSpPr/>
          <p:nvPr/>
        </p:nvCxnSpPr>
        <p:spPr>
          <a:xfrm>
            <a:off x="-18720" y="474840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cxnSp>
        <p:nvCxnSpPr>
          <p:cNvPr id="61" name="Google Shape;142;p22"/>
          <p:cNvCxnSpPr/>
          <p:nvPr/>
        </p:nvCxnSpPr>
        <p:spPr>
          <a:xfrm>
            <a:off x="-18720" y="96768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94920" y="395280"/>
            <a:ext cx="8353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394920" y="1165680"/>
            <a:ext cx="8353440" cy="330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cxnSp>
        <p:nvCxnSpPr>
          <p:cNvPr id="64" name="Google Shape;22;p4"/>
          <p:cNvCxnSpPr/>
          <p:nvPr/>
        </p:nvCxnSpPr>
        <p:spPr>
          <a:xfrm>
            <a:off x="-18720" y="474840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cxnSp>
        <p:nvCxnSpPr>
          <p:cNvPr id="65" name="Google Shape;23;p4"/>
          <p:cNvCxnSpPr/>
          <p:nvPr/>
        </p:nvCxnSpPr>
        <p:spPr>
          <a:xfrm>
            <a:off x="-18720" y="96768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25;p5"/>
          <p:cNvCxnSpPr/>
          <p:nvPr/>
        </p:nvCxnSpPr>
        <p:spPr>
          <a:xfrm>
            <a:off x="-18720" y="474840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cxnSp>
        <p:nvCxnSpPr>
          <p:cNvPr id="69" name="Google Shape;26;p5"/>
          <p:cNvCxnSpPr/>
          <p:nvPr/>
        </p:nvCxnSpPr>
        <p:spPr>
          <a:xfrm>
            <a:off x="-18720" y="96768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394920" y="395280"/>
            <a:ext cx="8353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Google Shape;33;p6"/>
          <p:cNvCxnSpPr/>
          <p:nvPr/>
        </p:nvCxnSpPr>
        <p:spPr>
          <a:xfrm>
            <a:off x="-18720" y="474840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cxnSp>
        <p:nvCxnSpPr>
          <p:cNvPr id="75" name="Google Shape;34;p6"/>
          <p:cNvCxnSpPr/>
          <p:nvPr/>
        </p:nvCxnSpPr>
        <p:spPr>
          <a:xfrm>
            <a:off x="-18720" y="96768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394920" y="395280"/>
            <a:ext cx="8353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394920" y="395280"/>
            <a:ext cx="50155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5512680" y="0"/>
            <a:ext cx="36313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cxnSp>
        <p:nvCxnSpPr>
          <p:cNvPr id="80" name="Google Shape;40;p7"/>
          <p:cNvCxnSpPr/>
          <p:nvPr/>
        </p:nvCxnSpPr>
        <p:spPr>
          <a:xfrm>
            <a:off x="-18720" y="967680"/>
            <a:ext cx="55314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cxnSp>
        <p:nvCxnSpPr>
          <p:cNvPr id="81" name="Google Shape;41;p7"/>
          <p:cNvCxnSpPr/>
          <p:nvPr/>
        </p:nvCxnSpPr>
        <p:spPr>
          <a:xfrm>
            <a:off x="-18720" y="4748400"/>
            <a:ext cx="55314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oogle Shape;43;p8"/>
          <p:cNvCxnSpPr/>
          <p:nvPr/>
        </p:nvCxnSpPr>
        <p:spPr>
          <a:xfrm>
            <a:off x="-18720" y="474840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cxnSp>
        <p:nvCxnSpPr>
          <p:cNvPr id="83" name="Google Shape;44;p8"/>
          <p:cNvCxnSpPr/>
          <p:nvPr/>
        </p:nvCxnSpPr>
        <p:spPr>
          <a:xfrm>
            <a:off x="-18720" y="96768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2318040" y="1593360"/>
            <a:ext cx="45079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Google Shape;47;p9"/>
          <p:cNvCxnSpPr/>
          <p:nvPr/>
        </p:nvCxnSpPr>
        <p:spPr>
          <a:xfrm>
            <a:off x="-18720" y="474840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cxnSp>
        <p:nvCxnSpPr>
          <p:cNvPr id="86" name="Google Shape;48;p9"/>
          <p:cNvCxnSpPr/>
          <p:nvPr/>
        </p:nvCxnSpPr>
        <p:spPr>
          <a:xfrm>
            <a:off x="-18720" y="967680"/>
            <a:ext cx="9181800" cy="36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2135520" y="1482840"/>
            <a:ext cx="4872600" cy="1964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9" name="PlaceHolder 2"/>
          <p:cNvSpPr>
            <a:spLocks noGrp="1"/>
          </p:cNvSpPr>
          <p:nvPr>
            <p:ph type="title"/>
          </p:nvPr>
        </p:nvSpPr>
        <p:spPr>
          <a:xfrm>
            <a:off x="720000" y="4014360"/>
            <a:ext cx="7703640" cy="572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148;p25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151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94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390600" y="1838160"/>
            <a:ext cx="8353080" cy="2247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dirty="0"/>
              <a:t>Тема ВКР</a:t>
            </a:r>
            <a:r>
              <a:rPr lang="en-US" dirty="0"/>
              <a:t>:</a:t>
            </a:r>
            <a:r>
              <a:rPr lang="ru-RU" dirty="0"/>
              <a:t>Разработка веб-сайта для совместной игры в настольные игры через браузер в реальном времени</a:t>
            </a:r>
            <a:endParaRPr lang="fr-FR" sz="45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subTitle"/>
          </p:nvPr>
        </p:nvSpPr>
        <p:spPr>
          <a:xfrm>
            <a:off x="390600" y="4286160"/>
            <a:ext cx="8353080" cy="466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ru-RU" sz="1100" dirty="0"/>
              <a:t>                                                                                        Подготовил: студент группы ИСП-408 Балин Елисей Андреевич</a:t>
            </a:r>
          </a:p>
          <a:p>
            <a:pPr>
              <a:lnSpc>
                <a:spcPct val="120000"/>
              </a:lnSpc>
            </a:pPr>
            <a:r>
              <a:rPr lang="ru-RU" sz="1100" dirty="0"/>
              <a:t>                                                                                        Руководитель: преподаватель Петров Всеволод Викторович</a:t>
            </a:r>
          </a:p>
        </p:txBody>
      </p:sp>
      <p:pic>
        <p:nvPicPr>
          <p:cNvPr id="97" name="Google Shape;160;p27"/>
          <p:cNvPicPr/>
          <p:nvPr/>
        </p:nvPicPr>
        <p:blipFill>
          <a:blip r:embed="rId2"/>
          <a:srcRect t="34215" b="32172"/>
          <a:stretch/>
        </p:blipFill>
        <p:spPr>
          <a:xfrm>
            <a:off x="-5040" y="0"/>
            <a:ext cx="9143640" cy="1521360"/>
          </a:xfrm>
          <a:prstGeom prst="rect">
            <a:avLst/>
          </a:prstGeom>
          <a:ln w="0">
            <a:noFill/>
          </a:ln>
        </p:spPr>
      </p:pic>
      <p:pic>
        <p:nvPicPr>
          <p:cNvPr id="5" name="Picture 2" descr="Общежитие - МГУТУ им. К.Г. Разумовского (ПКУ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779" y="96698"/>
            <a:ext cx="1216024" cy="1216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395460" y="282960"/>
            <a:ext cx="8353080" cy="950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000" b="0" strike="noStrike" spc="-1" dirty="0">
                <a:solidFill>
                  <a:schemeClr val="dk1"/>
                </a:solidFill>
                <a:latin typeface="Libre Baskerville"/>
                <a:ea typeface="Libre Baskerville"/>
              </a:rPr>
              <a:t>Цели Д</a:t>
            </a:r>
            <a:r>
              <a:rPr lang="ru-RU" sz="4000" b="0" strike="noStrike" spc="-1" dirty="0" err="1">
                <a:solidFill>
                  <a:schemeClr val="dk1"/>
                </a:solidFill>
                <a:latin typeface="Libre Baskerville"/>
                <a:ea typeface="Libre Baskerville"/>
              </a:rPr>
              <a:t>ипломного</a:t>
            </a:r>
            <a:r>
              <a:rPr lang="ru-RU" sz="4000" b="0" strike="noStrike" spc="-1" dirty="0">
                <a:solidFill>
                  <a:schemeClr val="dk1"/>
                </a:solidFill>
                <a:latin typeface="Libre Baskerville"/>
                <a:ea typeface="Libre Baskerville"/>
              </a:rPr>
              <a:t> проекта </a:t>
            </a:r>
            <a:endParaRPr lang="fr-FR" sz="40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6E779-4DC4-907F-F0F6-3267E71E783B}"/>
              </a:ext>
            </a:extLst>
          </p:cNvPr>
          <p:cNvSpPr txBox="1"/>
          <p:nvPr/>
        </p:nvSpPr>
        <p:spPr>
          <a:xfrm>
            <a:off x="395460" y="1282679"/>
            <a:ext cx="7340364" cy="829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ru-RU" sz="1700" dirty="0"/>
              <a:t>Разработка веб-сайта для совместной игры в настольные игры через браузер в реальном времени</a:t>
            </a:r>
            <a:endParaRPr lang="ru-RU" sz="17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865420-2942-47AF-AEBC-CEA6C46DD612}"/>
              </a:ext>
            </a:extLst>
          </p:cNvPr>
          <p:cNvSpPr txBox="1"/>
          <p:nvPr/>
        </p:nvSpPr>
        <p:spPr>
          <a:xfrm>
            <a:off x="537881" y="524435"/>
            <a:ext cx="32162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058168-2E95-4408-804B-E93A5E5E6BD8}"/>
              </a:ext>
            </a:extLst>
          </p:cNvPr>
          <p:cNvSpPr txBox="1"/>
          <p:nvPr/>
        </p:nvSpPr>
        <p:spPr>
          <a:xfrm>
            <a:off x="537881" y="1519518"/>
            <a:ext cx="7940490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b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1) Устойчивый рост аудитории и спрос на русскоязычные платформы для интеллектуального досуга</a:t>
            </a:r>
          </a:p>
          <a:p>
            <a:pPr algn="l"/>
            <a:r>
              <a:rPr lang="ru-RU" sz="1700" b="1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l"/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2) Глобальные аналоги (Board Game Arena и др.) — англоязычны и платны; отечественные — технически устарели</a:t>
            </a:r>
          </a:p>
          <a:p>
            <a:pPr algn="l"/>
            <a:r>
              <a:rPr lang="ru-RU" sz="1700" b="1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algn="l"/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3) Развитие WebSocket и экосистемы Node.js создало фундамент для синхронных приложений с минимальными задержками</a:t>
            </a:r>
          </a:p>
          <a:p>
            <a:pPr algn="l"/>
            <a:r>
              <a:rPr lang="ru-RU" sz="1700" b="1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  <a:p>
            <a:pPr algn="l"/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4) Запрос на бесплатный браузерный сервис без языкового барьера и установки ПО остаётся неудовлетворённым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9833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974716-A997-0D7C-B074-6895FA91A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920" y="242568"/>
            <a:ext cx="8291520" cy="79632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en" spc="-1" dirty="0">
                <a:solidFill>
                  <a:schemeClr val="dk1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</a:rPr>
              <a:t> Д</a:t>
            </a:r>
            <a:r>
              <a:rPr lang="ru-RU" spc="-1" dirty="0" err="1">
                <a:solidFill>
                  <a:schemeClr val="dk1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</a:rPr>
              <a:t>ипломного</a:t>
            </a:r>
            <a:r>
              <a:rPr lang="ru-RU" spc="-1" dirty="0">
                <a:solidFill>
                  <a:schemeClr val="dk1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</a:rPr>
              <a:t> проекта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6A48A2D-C72B-53BE-D263-69A3ACB173F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94920" y="1941442"/>
            <a:ext cx="7748541" cy="1391480"/>
          </a:xfrm>
        </p:spPr>
        <p:txBody>
          <a:bodyPr/>
          <a:lstStyle/>
          <a:p>
            <a:pPr marL="457200" indent="-457200">
              <a:buFont typeface="+mj-lt"/>
              <a:buAutoNum type="arabicParenR"/>
            </a:pP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архитектуру: монорепозиторий, клиент-серверную структуру, схему БД и протокол real-time обмена</a:t>
            </a:r>
            <a:r>
              <a:rPr lang="ru-RU" sz="17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rabicParenR"/>
            </a:pP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серверную часть с аутентификацией, управлением сессиями и синхронизацией состояния через WebSocket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lvl="0" indent="-457200">
              <a:buFont typeface="+mj-lt"/>
              <a:buAutoNum type="arabicParenR"/>
            </a:pP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клиентскую часть с интерактивным Canvas-интерфейсом на Konva и связью с сервером по Socket.IO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lvl="0" indent="-457200">
              <a:buFont typeface="+mj-lt"/>
              <a:buAutoNum type="arabicParenR"/>
            </a:pP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функциональное тестирование и оценку производительности в многопользовательской среде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>
              <a:buFont typeface="+mj-lt"/>
              <a:buAutoNum type="arabicParenR"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596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390600" y="3657600"/>
            <a:ext cx="8295840" cy="990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600" b="0" strike="noStrike" spc="-1" dirty="0">
                <a:solidFill>
                  <a:schemeClr val="dk1"/>
                </a:solidFill>
                <a:latin typeface="Libre Baskerville"/>
                <a:ea typeface="Libre Baskerville"/>
              </a:rPr>
              <a:t>Функциональные требования</a:t>
            </a:r>
            <a:endParaRPr lang="fr-FR" sz="26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subTitle"/>
          </p:nvPr>
        </p:nvSpPr>
        <p:spPr>
          <a:xfrm>
            <a:off x="78956" y="495540"/>
            <a:ext cx="4831372" cy="287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" sz="56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</a:rPr>
              <a:t> Сайт должен включать</a:t>
            </a:r>
            <a:r>
              <a:rPr lang="en-US" sz="5600" spc="-1" dirty="0">
                <a:solidFill>
                  <a:schemeClr val="dk1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</a:rPr>
              <a:t>: </a:t>
            </a:r>
          </a:p>
          <a:p>
            <a:pPr>
              <a:lnSpc>
                <a:spcPct val="120000"/>
              </a:lnSpc>
            </a:pPr>
            <a:r>
              <a:rPr lang="ru-RU" sz="5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регистрацию и аутентификацию пользователей с безопасным хранением учётных данных</a:t>
            </a:r>
            <a:r>
              <a:rPr lang="ru-RU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20000"/>
              </a:lnSpc>
            </a:pPr>
            <a:r>
              <a:rPr lang="ru-RU" sz="5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игровых комнат (приватных и публичных) и присоединение к ним по уникальной ссылке</a:t>
            </a:r>
            <a:r>
              <a:rPr lang="ru-RU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20000"/>
              </a:lnSpc>
            </a:pPr>
            <a:r>
              <a:rPr lang="ru-RU" sz="5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интерактивное игровое поле с перетаскиванием фигур и визуальной подсветкой допустимых ходов</a:t>
            </a:r>
            <a:r>
              <a:rPr lang="ru-RU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20000"/>
              </a:lnSpc>
            </a:pPr>
            <a:r>
              <a:rPr lang="ru-RU" sz="5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автоматическую проверку правил шахмат и синхронизацию состояния партии в реальном времени</a:t>
            </a:r>
            <a:r>
              <a:rPr lang="ru-RU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20000"/>
              </a:lnSpc>
            </a:pPr>
            <a:r>
              <a:rPr lang="ru-RU" sz="5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внутриигровой чат для обмена сообщениями между участниками</a:t>
            </a:r>
            <a:r>
              <a:rPr lang="ru-RU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br>
              <a:rPr lang="en-US" sz="1200" spc="-1" dirty="0">
                <a:solidFill>
                  <a:schemeClr val="dk1"/>
                </a:solidFill>
                <a:latin typeface="DM Sans"/>
                <a:ea typeface="DM Sans"/>
              </a:rPr>
            </a:br>
            <a:endParaRPr lang="en-US" sz="1200" b="0" strike="noStrike" spc="-1" dirty="0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197D94-EC94-74BE-7FE3-45F22D77B51B}"/>
              </a:ext>
            </a:extLst>
          </p:cNvPr>
          <p:cNvSpPr txBox="1"/>
          <p:nvPr/>
        </p:nvSpPr>
        <p:spPr>
          <a:xfrm>
            <a:off x="4910328" y="876744"/>
            <a:ext cx="4599432" cy="2268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восстановление игровой сессии после временного разрыва соединения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истории завершённых партий и базовой статистики игрока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адаптивное отображение интерфейса на мобильных и десктопных устройствах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1DA4DAC-B17F-4F17-8CCF-EC77A9730932}"/>
              </a:ext>
            </a:extLst>
          </p:cNvPr>
          <p:cNvSpPr txBox="1">
            <a:spLocks/>
          </p:cNvSpPr>
          <p:nvPr/>
        </p:nvSpPr>
        <p:spPr>
          <a:xfrm>
            <a:off x="347855" y="3812762"/>
            <a:ext cx="8291520" cy="7963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9C2AFDC-7671-4A9D-96C0-A97FC1160F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470096"/>
              </p:ext>
            </p:extLst>
          </p:nvPr>
        </p:nvGraphicFramePr>
        <p:xfrm>
          <a:off x="504623" y="228601"/>
          <a:ext cx="8291520" cy="3333751"/>
        </p:xfrm>
        <a:graphic>
          <a:graphicData uri="http://schemas.openxmlformats.org/drawingml/2006/table">
            <a:tbl>
              <a:tblPr/>
              <a:tblGrid>
                <a:gridCol w="1381920">
                  <a:extLst>
                    <a:ext uri="{9D8B030D-6E8A-4147-A177-3AD203B41FA5}">
                      <a16:colId xmlns:a16="http://schemas.microsoft.com/office/drawing/2014/main" val="1395272919"/>
                    </a:ext>
                  </a:extLst>
                </a:gridCol>
                <a:gridCol w="1381920">
                  <a:extLst>
                    <a:ext uri="{9D8B030D-6E8A-4147-A177-3AD203B41FA5}">
                      <a16:colId xmlns:a16="http://schemas.microsoft.com/office/drawing/2014/main" val="1407119042"/>
                    </a:ext>
                  </a:extLst>
                </a:gridCol>
                <a:gridCol w="1381920">
                  <a:extLst>
                    <a:ext uri="{9D8B030D-6E8A-4147-A177-3AD203B41FA5}">
                      <a16:colId xmlns:a16="http://schemas.microsoft.com/office/drawing/2014/main" val="3090267978"/>
                    </a:ext>
                  </a:extLst>
                </a:gridCol>
                <a:gridCol w="1381920">
                  <a:extLst>
                    <a:ext uri="{9D8B030D-6E8A-4147-A177-3AD203B41FA5}">
                      <a16:colId xmlns:a16="http://schemas.microsoft.com/office/drawing/2014/main" val="2299334851"/>
                    </a:ext>
                  </a:extLst>
                </a:gridCol>
                <a:gridCol w="1381920">
                  <a:extLst>
                    <a:ext uri="{9D8B030D-6E8A-4147-A177-3AD203B41FA5}">
                      <a16:colId xmlns:a16="http://schemas.microsoft.com/office/drawing/2014/main" val="2193243742"/>
                    </a:ext>
                  </a:extLst>
                </a:gridCol>
                <a:gridCol w="1381920">
                  <a:extLst>
                    <a:ext uri="{9D8B030D-6E8A-4147-A177-3AD203B41FA5}">
                      <a16:colId xmlns:a16="http://schemas.microsoft.com/office/drawing/2014/main" val="986046323"/>
                    </a:ext>
                  </a:extLst>
                </a:gridCol>
              </a:tblGrid>
              <a:tr h="278648">
                <a:tc>
                  <a:txBody>
                    <a:bodyPr/>
                    <a:lstStyle/>
                    <a:p>
                      <a:pPr algn="l"/>
                      <a:r>
                        <a:rPr lang="ru-RU" sz="1400" b="0" baseline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Платформа</a:t>
                      </a:r>
                    </a:p>
                  </a:txBody>
                  <a:tcPr marL="32942" marR="32942" marT="28824" marB="28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B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 baseline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Браузер</a:t>
                      </a:r>
                    </a:p>
                  </a:txBody>
                  <a:tcPr marL="32942" marR="32942" marT="28824" marB="28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B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 baseline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Рус. язык</a:t>
                      </a:r>
                    </a:p>
                  </a:txBody>
                  <a:tcPr marL="32942" marR="32942" marT="28824" marB="28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B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 baseline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Бесплатно</a:t>
                      </a:r>
                    </a:p>
                  </a:txBody>
                  <a:tcPr marL="32942" marR="32942" marT="28824" marB="28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B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baseline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</a:t>
                      </a:r>
                    </a:p>
                  </a:txBody>
                  <a:tcPr marL="32942" marR="32942" marT="28824" marB="28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B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 baseline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Вывод</a:t>
                      </a:r>
                    </a:p>
                  </a:txBody>
                  <a:tcPr marL="32942" marR="32942" marT="28824" marB="28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045222"/>
                  </a:ext>
                </a:extLst>
              </a:tr>
              <a:tr h="928307">
                <a:tc>
                  <a:txBody>
                    <a:bodyPr/>
                    <a:lstStyle/>
                    <a:p>
                      <a:pPr fontAlgn="t"/>
                      <a:r>
                        <a:rPr lang="en-US" sz="1400" b="1" baseline="0">
                          <a:solidFill>
                            <a:srgbClr val="14141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Board Game Arena</a:t>
                      </a:r>
                      <a:endParaRPr lang="en-US" sz="1400" baseline="0">
                        <a:solidFill>
                          <a:srgbClr val="14141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942" marR="32942" marT="24707" marB="24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400" b="1" baseline="0">
                          <a:solidFill>
                            <a:srgbClr val="14141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✔</a:t>
                      </a:r>
                    </a:p>
                  </a:txBody>
                  <a:tcPr marL="32942" marR="32942" marT="24707" marB="24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400" b="1" baseline="0">
                          <a:solidFill>
                            <a:srgbClr val="14141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✘</a:t>
                      </a:r>
                    </a:p>
                  </a:txBody>
                  <a:tcPr marL="32942" marR="32942" marT="24707" marB="24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400" b="1" baseline="0" dirty="0">
                          <a:solidFill>
                            <a:srgbClr val="14141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частично</a:t>
                      </a:r>
                    </a:p>
                  </a:txBody>
                  <a:tcPr marL="32942" marR="32942" marT="24707" marB="24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400" b="1" baseline="0">
                          <a:solidFill>
                            <a:srgbClr val="14141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✔</a:t>
                      </a:r>
                    </a:p>
                  </a:txBody>
                  <a:tcPr marL="32942" marR="32942" marT="24707" marB="24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400" baseline="0">
                          <a:solidFill>
                            <a:srgbClr val="14141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Языковой барьер, платная подписка</a:t>
                      </a:r>
                    </a:p>
                  </a:txBody>
                  <a:tcPr marL="32942" marR="32942" marT="24707" marB="24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9299499"/>
                  </a:ext>
                </a:extLst>
              </a:tr>
              <a:tr h="708932">
                <a:tc>
                  <a:txBody>
                    <a:bodyPr/>
                    <a:lstStyle/>
                    <a:p>
                      <a:pPr fontAlgn="t"/>
                      <a:r>
                        <a:rPr lang="en-US" sz="1400" b="1" baseline="0">
                          <a:solidFill>
                            <a:srgbClr val="14141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Tabletop Simulator</a:t>
                      </a:r>
                      <a:endParaRPr lang="en-US" sz="1400" baseline="0">
                        <a:solidFill>
                          <a:srgbClr val="14141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942" marR="32942" marT="24707" marB="24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400" b="1" baseline="0">
                          <a:solidFill>
                            <a:srgbClr val="14141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✘</a:t>
                      </a:r>
                    </a:p>
                  </a:txBody>
                  <a:tcPr marL="32942" marR="32942" marT="24707" marB="24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400" b="1" baseline="0">
                          <a:solidFill>
                            <a:srgbClr val="14141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✘</a:t>
                      </a:r>
                    </a:p>
                  </a:txBody>
                  <a:tcPr marL="32942" marR="32942" marT="24707" marB="24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400" b="1" baseline="0">
                          <a:solidFill>
                            <a:srgbClr val="14141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✘</a:t>
                      </a:r>
                    </a:p>
                  </a:txBody>
                  <a:tcPr marL="32942" marR="32942" marT="24707" marB="24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400" b="1" baseline="0">
                          <a:solidFill>
                            <a:srgbClr val="14141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✔</a:t>
                      </a:r>
                    </a:p>
                  </a:txBody>
                  <a:tcPr marL="32942" marR="32942" marT="24707" marB="24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400" baseline="0">
                          <a:solidFill>
                            <a:srgbClr val="14141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Требует установки, платно</a:t>
                      </a:r>
                    </a:p>
                  </a:txBody>
                  <a:tcPr marL="32942" marR="32942" marT="24707" marB="24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0055215"/>
                  </a:ext>
                </a:extLst>
              </a:tr>
              <a:tr h="708932">
                <a:tc>
                  <a:txBody>
                    <a:bodyPr/>
                    <a:lstStyle/>
                    <a:p>
                      <a:pPr fontAlgn="t"/>
                      <a:r>
                        <a:rPr lang="en-US" sz="1400" b="1" baseline="0" dirty="0" err="1">
                          <a:solidFill>
                            <a:srgbClr val="14141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Tabletopia</a:t>
                      </a:r>
                      <a:endParaRPr lang="en-US" sz="1400" baseline="0" dirty="0">
                        <a:solidFill>
                          <a:srgbClr val="14141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942" marR="32942" marT="24707" marB="24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400" b="1" baseline="0">
                          <a:solidFill>
                            <a:srgbClr val="14141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✔</a:t>
                      </a:r>
                    </a:p>
                  </a:txBody>
                  <a:tcPr marL="32942" marR="32942" marT="24707" marB="24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400" b="1" baseline="0">
                          <a:solidFill>
                            <a:srgbClr val="14141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✘</a:t>
                      </a:r>
                    </a:p>
                  </a:txBody>
                  <a:tcPr marL="32942" marR="32942" marT="24707" marB="24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400" b="1" baseline="0">
                          <a:solidFill>
                            <a:srgbClr val="14141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частично</a:t>
                      </a:r>
                    </a:p>
                  </a:txBody>
                  <a:tcPr marL="32942" marR="32942" marT="24707" marB="24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400" b="1" baseline="0">
                          <a:solidFill>
                            <a:srgbClr val="14141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✔</a:t>
                      </a:r>
                    </a:p>
                  </a:txBody>
                  <a:tcPr marL="32942" marR="32942" marT="24707" marB="24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400" baseline="0">
                          <a:solidFill>
                            <a:srgbClr val="14141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Ограниченный бесплатный функционал</a:t>
                      </a:r>
                    </a:p>
                  </a:txBody>
                  <a:tcPr marL="32942" marR="32942" marT="24707" marB="24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1419189"/>
                  </a:ext>
                </a:extLst>
              </a:tr>
              <a:tr h="708932">
                <a:tc>
                  <a:txBody>
                    <a:bodyPr/>
                    <a:lstStyle/>
                    <a:p>
                      <a:pPr fontAlgn="t"/>
                      <a:r>
                        <a:rPr lang="ru-RU" sz="1400" b="1" baseline="0">
                          <a:solidFill>
                            <a:srgbClr val="14141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Разраб. продукт</a:t>
                      </a:r>
                      <a:endParaRPr lang="ru-RU" sz="1400" baseline="0">
                        <a:solidFill>
                          <a:srgbClr val="14141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942" marR="32942" marT="24707" marB="24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400" b="1" baseline="0">
                          <a:solidFill>
                            <a:srgbClr val="14141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✔</a:t>
                      </a:r>
                    </a:p>
                  </a:txBody>
                  <a:tcPr marL="32942" marR="32942" marT="24707" marB="24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400" b="1" baseline="0">
                          <a:solidFill>
                            <a:srgbClr val="14141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✔</a:t>
                      </a:r>
                    </a:p>
                  </a:txBody>
                  <a:tcPr marL="32942" marR="32942" marT="24707" marB="24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400" b="1" baseline="0">
                          <a:solidFill>
                            <a:srgbClr val="14141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✔</a:t>
                      </a:r>
                    </a:p>
                  </a:txBody>
                  <a:tcPr marL="32942" marR="32942" marT="24707" marB="24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400" b="1" baseline="0">
                          <a:solidFill>
                            <a:srgbClr val="14141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✔</a:t>
                      </a:r>
                    </a:p>
                  </a:txBody>
                  <a:tcPr marL="32942" marR="32942" marT="24707" marB="24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400" baseline="0" dirty="0">
                          <a:solidFill>
                            <a:srgbClr val="14141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Целевое решение для рынка</a:t>
                      </a:r>
                    </a:p>
                  </a:txBody>
                  <a:tcPr marL="32942" marR="32942" marT="24707" marB="24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6085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9028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DC1A0E-38B6-4F3A-A868-65BA332175F5}"/>
              </a:ext>
            </a:extLst>
          </p:cNvPr>
          <p:cNvSpPr txBox="1">
            <a:spLocks/>
          </p:cNvSpPr>
          <p:nvPr/>
        </p:nvSpPr>
        <p:spPr>
          <a:xfrm>
            <a:off x="347855" y="3812762"/>
            <a:ext cx="8577070" cy="7963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инструментальных средств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00FB34-E774-4DBE-AFF3-B1C6C5973451}"/>
              </a:ext>
            </a:extLst>
          </p:cNvPr>
          <p:cNvSpPr txBox="1"/>
          <p:nvPr/>
        </p:nvSpPr>
        <p:spPr>
          <a:xfrm>
            <a:off x="347855" y="354896"/>
            <a:ext cx="857707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700" b="1" i="0" dirty="0">
                <a:solidFill>
                  <a:srgbClr val="0D2B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TypeScript</a:t>
            </a:r>
            <a:r>
              <a:rPr lang="en-US" sz="1700" b="1" dirty="0">
                <a:solidFill>
                  <a:srgbClr val="0D2B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Статическая типизация, единая кодовая база клиент/сервер, снижение ошибок на стыке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700" b="1" i="0" dirty="0">
                <a:solidFill>
                  <a:srgbClr val="0D2B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Node.js + Express: </a:t>
            </a: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Событийная модель, высокая производительность 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I/O, </a:t>
            </a: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гибкое 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 API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700" b="1" i="0" dirty="0">
                <a:solidFill>
                  <a:srgbClr val="0D2B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Socket.IO / WebSocket: </a:t>
            </a: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Дуплексное соединение, автопереподключение, поддержка комнат, низкая задержка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700" b="1" i="0" dirty="0">
                <a:solidFill>
                  <a:srgbClr val="0D2B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Prisma + PostgreSQL: </a:t>
            </a: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Типобезопасная 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ORM, </a:t>
            </a: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надёжное хранение данных пользователей и партий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700" b="1" i="0" dirty="0">
                <a:solidFill>
                  <a:srgbClr val="0D2B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 19 + </a:t>
            </a:r>
            <a:r>
              <a:rPr lang="en-US" sz="1700" b="1" i="0" dirty="0" err="1">
                <a:solidFill>
                  <a:srgbClr val="0D2B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Vite</a:t>
            </a:r>
            <a:r>
              <a:rPr lang="en-US" sz="1700" b="1" i="0" dirty="0">
                <a:solidFill>
                  <a:srgbClr val="0D2B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Tailwind: </a:t>
            </a: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Быстрые обновления компонентов, малый бандл, адаптивный 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700" b="1" i="0" dirty="0" err="1">
                <a:solidFill>
                  <a:srgbClr val="0D2B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Konva</a:t>
            </a:r>
            <a:r>
              <a:rPr lang="en-US" sz="1700" b="1" i="0" dirty="0">
                <a:solidFill>
                  <a:srgbClr val="0D2B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/ react-</a:t>
            </a:r>
            <a:r>
              <a:rPr lang="en-US" sz="1700" b="1" i="0" dirty="0" err="1">
                <a:solidFill>
                  <a:srgbClr val="0D2B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konva</a:t>
            </a:r>
            <a:r>
              <a:rPr lang="en-US" sz="1700" b="1" i="0" dirty="0">
                <a:solidFill>
                  <a:srgbClr val="0D2B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Canvas-</a:t>
            </a: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отрисовка игровой доски, интерактивность, 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chess.js </a:t>
            </a: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логики шахмат</a:t>
            </a:r>
          </a:p>
        </p:txBody>
      </p:sp>
    </p:spTree>
    <p:extLst>
      <p:ext uri="{BB962C8B-B14F-4D97-AF65-F5344CB8AC3E}">
        <p14:creationId xmlns:p14="http://schemas.microsoft.com/office/powerpoint/2010/main" val="144879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CF6059-CE71-41C7-8FB2-81B29467D2EC}"/>
              </a:ext>
            </a:extLst>
          </p:cNvPr>
          <p:cNvSpPr txBox="1">
            <a:spLocks/>
          </p:cNvSpPr>
          <p:nvPr/>
        </p:nvSpPr>
        <p:spPr>
          <a:xfrm>
            <a:off x="5303520" y="3496280"/>
            <a:ext cx="3796030" cy="7963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базы данных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DAD5B5-F1A8-4993-91B3-E5E69DF6AE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863" y="0"/>
            <a:ext cx="32572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574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70ACC4-AAE1-4F85-B360-BDF73672B505}"/>
              </a:ext>
            </a:extLst>
          </p:cNvPr>
          <p:cNvSpPr txBox="1">
            <a:spLocks/>
          </p:cNvSpPr>
          <p:nvPr/>
        </p:nvSpPr>
        <p:spPr>
          <a:xfrm>
            <a:off x="347855" y="3812762"/>
            <a:ext cx="8577070" cy="7963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серверной части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351C0A-7212-4018-8766-4855D05576B3}"/>
              </a:ext>
            </a:extLst>
          </p:cNvPr>
          <p:cNvSpPr txBox="1"/>
          <p:nvPr/>
        </p:nvSpPr>
        <p:spPr>
          <a:xfrm>
            <a:off x="482537" y="182315"/>
            <a:ext cx="8178925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7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Аутентификация:</a:t>
            </a: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регистрация/вход через </a:t>
            </a:r>
            <a:r>
              <a:rPr lang="en-US" sz="17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bcryptjs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17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jsonwebtoken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защита маршрутов 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JWT-middleware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700" b="1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7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Игровые комнаты:</a:t>
            </a: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генерация уникальных 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 </a:t>
            </a: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через </a:t>
            </a:r>
            <a:r>
              <a:rPr lang="en-US" sz="17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nanoid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подключением 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Socket.IO-rooms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700" b="1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7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Игровая логика:</a:t>
            </a: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валидация каждого хода на сервере через 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chess.js, </a:t>
            </a: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состояния в памяти сервера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700" b="1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7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Безопасность:</a:t>
            </a: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helmet, </a:t>
            </a:r>
            <a:r>
              <a:rPr lang="en-US" sz="17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cors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7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zod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валидация входных данных, </a:t>
            </a:r>
            <a:r>
              <a:rPr lang="en-US" sz="17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morgan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логирование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700" b="1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7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данных:</a:t>
            </a: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Prisma-</a:t>
            </a: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миграции, 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seed, Docker Compose </a:t>
            </a: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</a:p>
        </p:txBody>
      </p:sp>
    </p:spTree>
    <p:extLst>
      <p:ext uri="{BB962C8B-B14F-4D97-AF65-F5344CB8AC3E}">
        <p14:creationId xmlns:p14="http://schemas.microsoft.com/office/powerpoint/2010/main" val="1306375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DF238-8B3C-4FC0-A82F-85FE4B7DBCC5}"/>
              </a:ext>
            </a:extLst>
          </p:cNvPr>
          <p:cNvSpPr txBox="1">
            <a:spLocks/>
          </p:cNvSpPr>
          <p:nvPr/>
        </p:nvSpPr>
        <p:spPr>
          <a:xfrm>
            <a:off x="347855" y="3812762"/>
            <a:ext cx="8577070" cy="7963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клиентской части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BA56BE-F449-440B-BC08-E2D1CCE9D335}"/>
              </a:ext>
            </a:extLst>
          </p:cNvPr>
          <p:cNvSpPr txBox="1"/>
          <p:nvPr/>
        </p:nvSpPr>
        <p:spPr>
          <a:xfrm>
            <a:off x="347855" y="269736"/>
            <a:ext cx="8448289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7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Маршрутизация:</a:t>
            </a: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react-router-</a:t>
            </a:r>
            <a:r>
              <a:rPr lang="en-US" sz="17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dom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страницы входа, лобби, игровой комнаты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700" b="1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7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Состояние:</a:t>
            </a: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7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Zustand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глобальный стор для пользователя, комнаты, состояния партии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700" b="1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7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Игровой интерфейс:</a:t>
            </a: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react-chessboard </a:t>
            </a: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chess.js, </a:t>
            </a: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 на 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Canvas </a:t>
            </a: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через 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react-</a:t>
            </a:r>
            <a:r>
              <a:rPr lang="en-US" sz="17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konva</a:t>
            </a:r>
            <a:endParaRPr lang="en-US" sz="17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700" b="1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7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Real-time: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socket.io-client </a:t>
            </a: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подписывается на события сервера, мгновенно обновляет 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endParaRPr lang="en-US" sz="1700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7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UI: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Tailwind CSS — </a:t>
            </a: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адаптивная вёрстка, поддержка мобильных устройств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700" b="1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7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UX: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1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индикатор очерёдности хода, нотация партии, уведомления о событиях</a:t>
            </a:r>
          </a:p>
        </p:txBody>
      </p:sp>
    </p:spTree>
    <p:extLst>
      <p:ext uri="{BB962C8B-B14F-4D97-AF65-F5344CB8AC3E}">
        <p14:creationId xmlns:p14="http://schemas.microsoft.com/office/powerpoint/2010/main" val="281358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884498" y="3077976"/>
            <a:ext cx="3194018" cy="41300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0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</a:rPr>
              <a:t>Регистрация и Авторизация</a:t>
            </a:r>
            <a:endParaRPr lang="fr-FR" sz="2000" b="0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ubTitle"/>
          </p:nvPr>
        </p:nvSpPr>
        <p:spPr>
          <a:xfrm>
            <a:off x="5723784" y="3495567"/>
            <a:ext cx="3194018" cy="2581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Предусмотрена функция регистрации с возможностью валидации по пяти критериям, включая сложность пароля и уникальность учётных данных</a:t>
            </a:r>
            <a:endParaRPr lang="en-US" sz="200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EFF10A9-69DF-43AA-BA79-02B8B5105793}"/>
              </a:ext>
            </a:extLst>
          </p:cNvPr>
          <p:cNvSpPr txBox="1">
            <a:spLocks/>
          </p:cNvSpPr>
          <p:nvPr/>
        </p:nvSpPr>
        <p:spPr>
          <a:xfrm>
            <a:off x="5819015" y="357333"/>
            <a:ext cx="3324985" cy="7963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клиентской части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AA0295-CBBA-46BD-96A2-D59138869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8656"/>
            <a:ext cx="5819015" cy="39261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295900" y="3077976"/>
            <a:ext cx="3848100" cy="41300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0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игровых комнат</a:t>
            </a:r>
            <a:endParaRPr lang="fr-FR" sz="2000" b="0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ubTitle"/>
          </p:nvPr>
        </p:nvSpPr>
        <p:spPr>
          <a:xfrm>
            <a:off x="5295900" y="3495567"/>
            <a:ext cx="3621902" cy="2581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Предусмотрена функция регистрации с возможностью валидации по пяти критериям, включая сложность пароля и уникальность учётных данных</a:t>
            </a:r>
            <a:endParaRPr lang="en-US" sz="200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EFF10A9-69DF-43AA-BA79-02B8B5105793}"/>
              </a:ext>
            </a:extLst>
          </p:cNvPr>
          <p:cNvSpPr txBox="1">
            <a:spLocks/>
          </p:cNvSpPr>
          <p:nvPr/>
        </p:nvSpPr>
        <p:spPr>
          <a:xfrm>
            <a:off x="5295901" y="357333"/>
            <a:ext cx="3848100" cy="7963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клиентской части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287172-0754-482E-ACB5-172958DA9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9228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634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498848" y="3657600"/>
            <a:ext cx="4187592" cy="990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6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</a:rPr>
              <a:t>Игры и их проведение</a:t>
            </a:r>
            <a:endParaRPr lang="fr-FR" sz="2600" b="0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subTitle"/>
          </p:nvPr>
        </p:nvSpPr>
        <p:spPr>
          <a:xfrm>
            <a:off x="4270248" y="390600"/>
            <a:ext cx="4482792" cy="287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7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Предусмотрена функция проведения шахматной партии с возможностью синхронизации в реальном времени, включая визуализацию доски, перетаскивание фигур и контроль правил.</a:t>
            </a:r>
            <a:endParaRPr lang="en-US" sz="170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EC1CAB-6039-43C2-B6CA-0908F5E89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75920" cy="5143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C9209C-287F-4C5F-89D2-17710FC37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474" y="0"/>
            <a:ext cx="2509819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390600" y="247680"/>
            <a:ext cx="5057280" cy="1133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600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и развёртывание</a:t>
            </a:r>
            <a:endParaRPr lang="fr-FR" sz="2600" b="0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2" name="Google Shape;194;p30"/>
          <p:cNvCxnSpPr>
            <a:cxnSpLocks/>
          </p:cNvCxnSpPr>
          <p:nvPr/>
        </p:nvCxnSpPr>
        <p:spPr>
          <a:xfrm>
            <a:off x="-18720" y="1382400"/>
            <a:ext cx="9360840" cy="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8591D529-5603-40FE-80BC-5011EA42E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820" y="1571790"/>
            <a:ext cx="4326180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700" b="1" i="0" u="none" strike="noStrike" cap="none" normalizeH="0" baseline="0" dirty="0">
                <a:ln>
                  <a:noFill/>
                </a:ln>
                <a:solidFill>
                  <a:srgbClr val="0D2B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700" b="1" i="0" u="none" strike="noStrike" cap="none" normalizeH="0" baseline="0" dirty="0">
              <a:ln>
                <a:noFill/>
              </a:ln>
              <a:solidFill>
                <a:srgbClr val="0D2B5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rgbClr val="3D3D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Функциональное тестирование игровой логики (легальность ходов, мат, пат)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rgbClr val="3D3D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WebSocket-соединений при одновременных сессиях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rgbClr val="3D3D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типов: tsc --noEmit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rgbClr val="3D3D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JWT-аутентификации и защищённых маршрутов</a:t>
            </a:r>
            <a:endParaRPr kumimoji="0" lang="ru-RU" altLang="ru-RU" sz="17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B58A8A-89BC-4E80-8F38-A8628DF70C8D}"/>
              </a:ext>
            </a:extLst>
          </p:cNvPr>
          <p:cNvSpPr txBox="1"/>
          <p:nvPr/>
        </p:nvSpPr>
        <p:spPr>
          <a:xfrm>
            <a:off x="4572000" y="1518783"/>
            <a:ext cx="438912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700" b="1" i="0" dirty="0">
                <a:solidFill>
                  <a:srgbClr val="0D2B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Развёртывание</a:t>
            </a:r>
          </a:p>
          <a:p>
            <a:pPr algn="l"/>
            <a:endParaRPr lang="ru-RU" sz="1700" b="1" i="0" dirty="0">
              <a:solidFill>
                <a:srgbClr val="0D2B5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700" b="0" i="0" dirty="0">
                <a:solidFill>
                  <a:srgbClr val="3D3D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docker-</a:t>
            </a:r>
            <a:r>
              <a:rPr lang="en-US" sz="1700" b="0" i="0" dirty="0" err="1">
                <a:solidFill>
                  <a:srgbClr val="3D3D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compose.yml</a:t>
            </a:r>
            <a:r>
              <a:rPr lang="en-US" sz="1700" b="0" i="0" dirty="0">
                <a:solidFill>
                  <a:srgbClr val="3D3D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1700" b="0" i="0" dirty="0">
                <a:solidFill>
                  <a:srgbClr val="3D3D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продакшн-среда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700" b="0" i="0" dirty="0">
                <a:solidFill>
                  <a:srgbClr val="3D3D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docker-</a:t>
            </a:r>
            <a:r>
              <a:rPr lang="en-US" sz="1700" b="0" i="0" dirty="0" err="1">
                <a:solidFill>
                  <a:srgbClr val="3D3D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compose.dev.yml</a:t>
            </a:r>
            <a:r>
              <a:rPr lang="en-US" sz="1700" b="0" i="0" dirty="0">
                <a:solidFill>
                  <a:srgbClr val="3D3D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1700" b="0" i="0" dirty="0">
                <a:solidFill>
                  <a:srgbClr val="3D3D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среда разработки с </a:t>
            </a:r>
            <a:r>
              <a:rPr lang="en-US" sz="1700" b="0" i="0" dirty="0">
                <a:solidFill>
                  <a:srgbClr val="3D3D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hot-reload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700" b="0" i="0" dirty="0">
                <a:solidFill>
                  <a:srgbClr val="3D3D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PostgreSQL-</a:t>
            </a:r>
            <a:r>
              <a:rPr lang="ru-RU" sz="1700" b="0" i="0" dirty="0">
                <a:solidFill>
                  <a:srgbClr val="3D3D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контейнер с </a:t>
            </a:r>
            <a:r>
              <a:rPr lang="en-US" sz="1700" b="0" i="0" dirty="0">
                <a:solidFill>
                  <a:srgbClr val="3D3D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persistence-volumes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700" b="0" i="0" dirty="0">
                <a:solidFill>
                  <a:srgbClr val="3D3D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Единая команда запуска всего стека</a:t>
            </a:r>
          </a:p>
        </p:txBody>
      </p:sp>
      <p:cxnSp>
        <p:nvCxnSpPr>
          <p:cNvPr id="10" name="Google Shape;194;p30">
            <a:extLst>
              <a:ext uri="{FF2B5EF4-FFF2-40B4-BE49-F238E27FC236}">
                <a16:creationId xmlns:a16="http://schemas.microsoft.com/office/drawing/2014/main" id="{3E6AD046-8BDE-432F-9470-4BEE605F9930}"/>
              </a:ext>
            </a:extLst>
          </p:cNvPr>
          <p:cNvCxnSpPr>
            <a:cxnSpLocks/>
          </p:cNvCxnSpPr>
          <p:nvPr/>
        </p:nvCxnSpPr>
        <p:spPr>
          <a:xfrm>
            <a:off x="0" y="4750440"/>
            <a:ext cx="9360840" cy="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390600" y="247680"/>
            <a:ext cx="5057280" cy="1133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6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Итоги работы</a:t>
            </a:r>
            <a:endParaRPr lang="fr-FR" sz="2600" b="0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2" name="Google Shape;194;p30"/>
          <p:cNvCxnSpPr>
            <a:cxnSpLocks/>
          </p:cNvCxnSpPr>
          <p:nvPr/>
        </p:nvCxnSpPr>
        <p:spPr>
          <a:xfrm>
            <a:off x="-18720" y="1382400"/>
            <a:ext cx="9360840" cy="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cxnSp>
        <p:nvCxnSpPr>
          <p:cNvPr id="10" name="Google Shape;194;p30">
            <a:extLst>
              <a:ext uri="{FF2B5EF4-FFF2-40B4-BE49-F238E27FC236}">
                <a16:creationId xmlns:a16="http://schemas.microsoft.com/office/drawing/2014/main" id="{3E6AD046-8BDE-432F-9470-4BEE605F9930}"/>
              </a:ext>
            </a:extLst>
          </p:cNvPr>
          <p:cNvCxnSpPr>
            <a:cxnSpLocks/>
          </p:cNvCxnSpPr>
          <p:nvPr/>
        </p:nvCxnSpPr>
        <p:spPr>
          <a:xfrm>
            <a:off x="0" y="4750440"/>
            <a:ext cx="9360840" cy="0"/>
          </a:xfrm>
          <a:prstGeom prst="straightConnector1">
            <a:avLst/>
          </a:prstGeom>
          <a:ln w="9525">
            <a:solidFill>
              <a:srgbClr val="C1C2AF"/>
            </a:solidFill>
            <a:round/>
          </a:ln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F328A39-6FB7-4E10-AA5E-3BB983EA7FDB}"/>
              </a:ext>
            </a:extLst>
          </p:cNvPr>
          <p:cNvSpPr txBox="1"/>
          <p:nvPr/>
        </p:nvSpPr>
        <p:spPr>
          <a:xfrm>
            <a:off x="390600" y="1446426"/>
            <a:ext cx="8140699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700" b="1" i="0" dirty="0">
                <a:solidFill>
                  <a:srgbClr val="0D2B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Итог аналитической части</a:t>
            </a:r>
          </a:p>
          <a:p>
            <a:pPr algn="l"/>
            <a:r>
              <a:rPr lang="ru-RU" sz="1700" b="0" i="0" dirty="0">
                <a:solidFill>
                  <a:srgbClr val="3D3D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Проведён сравнительный анализ аналогов, подтвердивший незанятость целевой ниши. Обоснован технологический стек. Сформулированы функциональные требования. Спроектирована архитектура монорепозитория с общей типовой схемой TypeScript и событийно-ориентированной синхронизацией.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43FD72-C32C-416F-9BEA-CEE95FB11806}"/>
              </a:ext>
            </a:extLst>
          </p:cNvPr>
          <p:cNvSpPr txBox="1"/>
          <p:nvPr/>
        </p:nvSpPr>
        <p:spPr>
          <a:xfrm>
            <a:off x="390600" y="3221543"/>
            <a:ext cx="858830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700" b="1" i="0" dirty="0">
                <a:solidFill>
                  <a:srgbClr val="0D2B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Итог практической части</a:t>
            </a:r>
          </a:p>
          <a:p>
            <a:pPr algn="l"/>
            <a:r>
              <a:rPr lang="ru-RU" sz="1700" b="0" i="0" dirty="0">
                <a:solidFill>
                  <a:srgbClr val="3D3D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 полнофункциональный веб-сайт: JWT-аутентификация, создание приватных комнат по уникальному ID, синхронная игра в шахматы в реальном времени, интерактивный Canvas-интерфейс, серверная валидация ходов. Проведено тестирование. Настроено Docker-развёртывание.</a:t>
            </a:r>
          </a:p>
        </p:txBody>
      </p:sp>
    </p:spTree>
    <p:extLst>
      <p:ext uri="{BB962C8B-B14F-4D97-AF65-F5344CB8AC3E}">
        <p14:creationId xmlns:p14="http://schemas.microsoft.com/office/powerpoint/2010/main" val="1529119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390600" y="3657600"/>
            <a:ext cx="8295840" cy="990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</a:rPr>
              <a:t>Заключение</a:t>
            </a:r>
            <a:endParaRPr lang="fr-FR" sz="2800" b="0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83F693-27EF-4900-9EF8-E023EFBFA015}"/>
              </a:ext>
            </a:extLst>
          </p:cNvPr>
          <p:cNvSpPr txBox="1"/>
          <p:nvPr/>
        </p:nvSpPr>
        <p:spPr>
          <a:xfrm>
            <a:off x="2320640" y="495540"/>
            <a:ext cx="63658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b="1" i="0" dirty="0">
                <a:solidFill>
                  <a:srgbClr val="0D2B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Поставленная цель достигнута</a:t>
            </a:r>
          </a:p>
          <a:p>
            <a:pPr algn="just"/>
            <a:r>
              <a:rPr lang="ru-RU" sz="2000" b="0" i="0" dirty="0">
                <a:solidFill>
                  <a:srgbClr val="3D3D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Разработан, протестирован и задокументирован полнофункциональный браузерный веб-сайт для совместной игры в шахматы в реальном времени, отвечающий всем заявленным функциональным и нефункциональным требованиям.</a:t>
            </a:r>
          </a:p>
          <a:p>
            <a:pPr algn="just"/>
            <a:br>
              <a:rPr lang="ru-RU" dirty="0"/>
            </a:br>
            <a:endParaRPr lang="ru-RU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573480" y="1771830"/>
            <a:ext cx="5946192" cy="799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  <a:endParaRPr lang="fr-FR" sz="4000" b="0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Google Shape;306;p40"/>
          <p:cNvSpPr/>
          <p:nvPr/>
        </p:nvSpPr>
        <p:spPr>
          <a:xfrm>
            <a:off x="390600" y="3895560"/>
            <a:ext cx="3904920" cy="79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ru-RU" sz="160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Балин Елисей Андреевич</a:t>
            </a:r>
            <a:br>
              <a:rPr lang="ru-RU" sz="160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Телефон</a:t>
            </a:r>
            <a:r>
              <a:rPr lang="en-US" sz="160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+7 </a:t>
            </a:r>
            <a:r>
              <a:rPr lang="ru-RU" sz="160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977</a:t>
            </a:r>
            <a:r>
              <a:rPr lang="en-US" sz="160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557</a:t>
            </a:r>
            <a:r>
              <a:rPr lang="en-US" sz="160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60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13-03</a:t>
            </a:r>
            <a:br>
              <a:rPr lang="en-US" sz="160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Почта</a:t>
            </a:r>
            <a:r>
              <a:rPr lang="en-US" sz="160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60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eliseybalin@gmail.com</a:t>
            </a:r>
            <a:endParaRPr lang="en-US" sz="160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porate Sustainability Pitch Deck by Slidesgo">
  <a:themeElements>
    <a:clrScheme name="Simple Light">
      <a:dk1>
        <a:srgbClr val="303B34"/>
      </a:dk1>
      <a:lt1>
        <a:srgbClr val="FCFCF7"/>
      </a:lt1>
      <a:dk2>
        <a:srgbClr val="C1C2A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3B34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rporate Sustainability Pitch Deck by Slidesgo">
  <a:themeElements>
    <a:clrScheme name="Simple Light">
      <a:dk1>
        <a:srgbClr val="303B34"/>
      </a:dk1>
      <a:lt1>
        <a:srgbClr val="FCFCF7"/>
      </a:lt1>
      <a:dk2>
        <a:srgbClr val="C1C2A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3B34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orporate Sustainability Pitch Deck by Slidesgo">
  <a:themeElements>
    <a:clrScheme name="Simple Light">
      <a:dk1>
        <a:srgbClr val="303B34"/>
      </a:dk1>
      <a:lt1>
        <a:srgbClr val="FCFCF7"/>
      </a:lt1>
      <a:dk2>
        <a:srgbClr val="C1C2A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3B34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orporate Sustainability Pitch Deck by Slidesgo">
  <a:themeElements>
    <a:clrScheme name="Simple Light">
      <a:dk1>
        <a:srgbClr val="303B34"/>
      </a:dk1>
      <a:lt1>
        <a:srgbClr val="FCFCF7"/>
      </a:lt1>
      <a:dk2>
        <a:srgbClr val="C1C2A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3B34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orporate Sustainability Pitch Deck by Slidesgo">
  <a:themeElements>
    <a:clrScheme name="Simple Light">
      <a:dk1>
        <a:srgbClr val="303B34"/>
      </a:dk1>
      <a:lt1>
        <a:srgbClr val="FCFCF7"/>
      </a:lt1>
      <a:dk2>
        <a:srgbClr val="C1C2A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3B34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orporate Sustainability Pitch Deck by Slidesgo">
  <a:themeElements>
    <a:clrScheme name="Simple Light">
      <a:dk1>
        <a:srgbClr val="303B34"/>
      </a:dk1>
      <a:lt1>
        <a:srgbClr val="FCFCF7"/>
      </a:lt1>
      <a:dk2>
        <a:srgbClr val="C1C2A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3B34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Corporate Sustainability Pitch Deck by Slidesgo">
  <a:themeElements>
    <a:clrScheme name="Simple Light">
      <a:dk1>
        <a:srgbClr val="303B34"/>
      </a:dk1>
      <a:lt1>
        <a:srgbClr val="FCFCF7"/>
      </a:lt1>
      <a:dk2>
        <a:srgbClr val="C1C2A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3B34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orporate Sustainability Pitch Deck by Slidesgo">
  <a:themeElements>
    <a:clrScheme name="Simple Light">
      <a:dk1>
        <a:srgbClr val="303B34"/>
      </a:dk1>
      <a:lt1>
        <a:srgbClr val="FCFCF7"/>
      </a:lt1>
      <a:dk2>
        <a:srgbClr val="C1C2A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3B34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Corporate Sustainability Pitch Deck by Slidesgo">
  <a:themeElements>
    <a:clrScheme name="Simple Light">
      <a:dk1>
        <a:srgbClr val="303B34"/>
      </a:dk1>
      <a:lt1>
        <a:srgbClr val="FCFCF7"/>
      </a:lt1>
      <a:dk2>
        <a:srgbClr val="C1C2A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3B34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Corporate Sustainability Pitch Deck by Slidesgo">
  <a:themeElements>
    <a:clrScheme name="Simple Light">
      <a:dk1>
        <a:srgbClr val="303B34"/>
      </a:dk1>
      <a:lt1>
        <a:srgbClr val="FCFCF7"/>
      </a:lt1>
      <a:dk2>
        <a:srgbClr val="C1C2A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3B34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Corporate Sustainability Pitch Deck by Slidesgo">
  <a:themeElements>
    <a:clrScheme name="Simple Light">
      <a:dk1>
        <a:srgbClr val="303B34"/>
      </a:dk1>
      <a:lt1>
        <a:srgbClr val="FCFCF7"/>
      </a:lt1>
      <a:dk2>
        <a:srgbClr val="C1C2A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3B34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Corporate Sustainability Pitch Deck by Slidesgo">
  <a:themeElements>
    <a:clrScheme name="Simple Light">
      <a:dk1>
        <a:srgbClr val="303B34"/>
      </a:dk1>
      <a:lt1>
        <a:srgbClr val="FCFCF7"/>
      </a:lt1>
      <a:dk2>
        <a:srgbClr val="C1C2A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3B34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Corporate Sustainability Pitch Deck by Slidesgo">
  <a:themeElements>
    <a:clrScheme name="Simple Light">
      <a:dk1>
        <a:srgbClr val="303B34"/>
      </a:dk1>
      <a:lt1>
        <a:srgbClr val="FCFCF7"/>
      </a:lt1>
      <a:dk2>
        <a:srgbClr val="C1C2A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3B34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Corporate Sustainability Pitch Deck by Slidesgo">
  <a:themeElements>
    <a:clrScheme name="Simple Light">
      <a:dk1>
        <a:srgbClr val="303B34"/>
      </a:dk1>
      <a:lt1>
        <a:srgbClr val="FCFCF7"/>
      </a:lt1>
      <a:dk2>
        <a:srgbClr val="C1C2A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3B34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Corporate Sustainability Pitch Deck by Slidesgo">
  <a:themeElements>
    <a:clrScheme name="Simple Light">
      <a:dk1>
        <a:srgbClr val="303B34"/>
      </a:dk1>
      <a:lt1>
        <a:srgbClr val="FCFCF7"/>
      </a:lt1>
      <a:dk2>
        <a:srgbClr val="C1C2A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3B34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Corporate Sustainability Pitch Deck by Slidesgo">
  <a:themeElements>
    <a:clrScheme name="Simple Light">
      <a:dk1>
        <a:srgbClr val="303B34"/>
      </a:dk1>
      <a:lt1>
        <a:srgbClr val="FCFCF7"/>
      </a:lt1>
      <a:dk2>
        <a:srgbClr val="C1C2A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3B34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Corporate Sustainability Pitch Deck by Slidesgo">
  <a:themeElements>
    <a:clrScheme name="Simple Light">
      <a:dk1>
        <a:srgbClr val="303B34"/>
      </a:dk1>
      <a:lt1>
        <a:srgbClr val="FCFCF7"/>
      </a:lt1>
      <a:dk2>
        <a:srgbClr val="C1C2A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3B34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Corporate Sustainability Pitch Deck by Slidesgo">
  <a:themeElements>
    <a:clrScheme name="Simple Light">
      <a:dk1>
        <a:srgbClr val="303B34"/>
      </a:dk1>
      <a:lt1>
        <a:srgbClr val="FCFCF7"/>
      </a:lt1>
      <a:dk2>
        <a:srgbClr val="C1C2A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3B34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Corporate Sustainability Pitch Deck by Slidesgo">
  <a:themeElements>
    <a:clrScheme name="Simple Light">
      <a:dk1>
        <a:srgbClr val="303B34"/>
      </a:dk1>
      <a:lt1>
        <a:srgbClr val="FCFCF7"/>
      </a:lt1>
      <a:dk2>
        <a:srgbClr val="C1C2A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3B34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Corporate Sustainability Pitch Deck by Slidesgo">
  <a:themeElements>
    <a:clrScheme name="Simple Light">
      <a:dk1>
        <a:srgbClr val="303B34"/>
      </a:dk1>
      <a:lt1>
        <a:srgbClr val="FCFCF7"/>
      </a:lt1>
      <a:dk2>
        <a:srgbClr val="C1C2A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3B34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Corporate Sustainability Pitch Deck by Slidesgo">
  <a:themeElements>
    <a:clrScheme name="Simple Light">
      <a:dk1>
        <a:srgbClr val="303B34"/>
      </a:dk1>
      <a:lt1>
        <a:srgbClr val="FCFCF7"/>
      </a:lt1>
      <a:dk2>
        <a:srgbClr val="C1C2A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3B34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4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560</TotalTime>
  <Words>838</Words>
  <Application>Microsoft Office PowerPoint</Application>
  <PresentationFormat>On-screen Show (16:9)</PresentationFormat>
  <Paragraphs>122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24</vt:i4>
      </vt:variant>
      <vt:variant>
        <vt:lpstr>Slide Titles</vt:lpstr>
      </vt:variant>
      <vt:variant>
        <vt:i4>17</vt:i4>
      </vt:variant>
    </vt:vector>
  </HeadingPairs>
  <TitlesOfParts>
    <vt:vector size="49" baseType="lpstr">
      <vt:lpstr>Arial</vt:lpstr>
      <vt:lpstr>Calibri</vt:lpstr>
      <vt:lpstr>DM Sans</vt:lpstr>
      <vt:lpstr>Libre Baskerville</vt:lpstr>
      <vt:lpstr>OpenSymbol</vt:lpstr>
      <vt:lpstr>Symbol</vt:lpstr>
      <vt:lpstr>Times New Roman</vt:lpstr>
      <vt:lpstr>Wingdings</vt:lpstr>
      <vt:lpstr>Corporate Sustainability Pitch Deck by Slidesgo</vt:lpstr>
      <vt:lpstr>Corporate Sustainability Pitch Deck by Slidesgo</vt:lpstr>
      <vt:lpstr>Corporate Sustainability Pitch Deck by Slidesgo</vt:lpstr>
      <vt:lpstr>Corporate Sustainability Pitch Deck by Slidesgo</vt:lpstr>
      <vt:lpstr>Corporate Sustainability Pitch Deck by Slidesgo</vt:lpstr>
      <vt:lpstr>Corporate Sustainability Pitch Deck by Slidesgo</vt:lpstr>
      <vt:lpstr>Corporate Sustainability Pitch Deck by Slidesgo</vt:lpstr>
      <vt:lpstr>Corporate Sustainability Pitch Deck by Slidesgo</vt:lpstr>
      <vt:lpstr>Corporate Sustainability Pitch Deck by Slidesgo</vt:lpstr>
      <vt:lpstr>Corporate Sustainability Pitch Deck by Slidesgo</vt:lpstr>
      <vt:lpstr>Corporate Sustainability Pitch Deck by Slidesgo</vt:lpstr>
      <vt:lpstr>Corporate Sustainability Pitch Deck by Slidesgo</vt:lpstr>
      <vt:lpstr>Corporate Sustainability Pitch Deck by Slidesgo</vt:lpstr>
      <vt:lpstr>Corporate Sustainability Pitch Deck by Slidesgo</vt:lpstr>
      <vt:lpstr>Corporate Sustainability Pitch Deck by Slidesgo</vt:lpstr>
      <vt:lpstr>Corporate Sustainability Pitch Deck by Slidesgo</vt:lpstr>
      <vt:lpstr>Corporate Sustainability Pitch Deck by Slidesgo</vt:lpstr>
      <vt:lpstr>Corporate Sustainability Pitch Deck by Slidesgo</vt:lpstr>
      <vt:lpstr>Corporate Sustainability Pitch Deck by Slidesgo</vt:lpstr>
      <vt:lpstr>Corporate Sustainability Pitch Deck by Slidesgo</vt:lpstr>
      <vt:lpstr>Corporate Sustainability Pitch Deck by Slidesgo</vt:lpstr>
      <vt:lpstr>Slidesgo Final Pages</vt:lpstr>
      <vt:lpstr>Slidesgo Final Pages</vt:lpstr>
      <vt:lpstr>Slidesgo Final Pages</vt:lpstr>
      <vt:lpstr>Тема ВКР:Разработка веб-сайта для совместной игры в настольные игры через браузер в реальном времени</vt:lpstr>
      <vt:lpstr>Цели Дипломного проекта </vt:lpstr>
      <vt:lpstr>PowerPoint Presentation</vt:lpstr>
      <vt:lpstr>Задачи Дипломного проекта </vt:lpstr>
      <vt:lpstr>Функциональные требования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Регистрация и Авторизация</vt:lpstr>
      <vt:lpstr>Создание игровых комнат</vt:lpstr>
      <vt:lpstr>Игры и их проведение</vt:lpstr>
      <vt:lpstr>Тестирование и развёртывание</vt:lpstr>
      <vt:lpstr>Итоги работы</vt:lpstr>
      <vt:lpstr>Заключение</vt:lpstr>
      <vt:lpstr>Спасибо за внимание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ВКР:Разработка сайта предприятия на базе фреймворка (на примере ИП Сопов Матвей Андреевич)</dc:title>
  <dc:creator>Соня</dc:creator>
  <cp:lastModifiedBy>El B</cp:lastModifiedBy>
  <cp:revision>12</cp:revision>
  <dcterms:modified xsi:type="dcterms:W3CDTF">2026-06-04T09:10:37Z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2025-06-07T06:57:16Z</dcterms:created>
  <dc:creator>Unknown Creator</dc:creator>
  <dc:description/>
  <dc:language>en-US</dc:language>
  <cp:lastModifiedBy>Unknown Creator</cp:lastModifiedBy>
  <dcterms:modified xsi:type="dcterms:W3CDTF">2025-06-07T06:57:16Z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24</vt:r8>
  </property>
</Properties>
</file>